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1"/>
  </p:sldMasterIdLst>
  <p:notesMasterIdLst>
    <p:notesMasterId r:id="rId19"/>
  </p:notesMasterIdLst>
  <p:sldIdLst>
    <p:sldId id="256" r:id="rId2"/>
    <p:sldId id="279" r:id="rId3"/>
    <p:sldId id="270" r:id="rId4"/>
    <p:sldId id="257" r:id="rId5"/>
    <p:sldId id="269" r:id="rId6"/>
    <p:sldId id="271" r:id="rId7"/>
    <p:sldId id="275" r:id="rId8"/>
    <p:sldId id="278" r:id="rId9"/>
    <p:sldId id="268" r:id="rId10"/>
    <p:sldId id="280" r:id="rId11"/>
    <p:sldId id="284" r:id="rId12"/>
    <p:sldId id="262" r:id="rId13"/>
    <p:sldId id="282" r:id="rId14"/>
    <p:sldId id="283" r:id="rId15"/>
    <p:sldId id="263" r:id="rId16"/>
    <p:sldId id="277" r:id="rId17"/>
    <p:sldId id="264" r:id="rId1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10A8F-EF3D-4B94-B8DD-8A559847BC33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57C7D-E928-4E1B-AAA1-B8117015D9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100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403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235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28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995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78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22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805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04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201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644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224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955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7C7D-E928-4E1B-AAA1-B8117015D92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49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F982-338A-5A01-D74E-EDEAF97CA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D6FBF-D764-2F01-D352-879AFBF48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CE8C-0887-55E9-C4C8-C4156424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9DAE42CC-54F2-4371-8B7D-45825AA60A72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5BA22-D46B-5E55-F159-85EDB180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2024/25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D491-8825-F352-BCE2-421611CA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7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8556-C3DD-D0A8-7417-66923D73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37FB-5869-87A9-6E27-B02B7FD2A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5D98-345C-6BBB-DDCA-C76F8604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DE8A-5CB4-44EE-9744-F301D6131B93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66DEA-1CA6-AB86-476E-15AE98E6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05F13-624E-DFDA-8A47-9D3682C9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9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0FE-EA83-AB8A-179F-45144F80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B3246-8F15-CA0E-31FA-A1DA2554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0FA42-1AC9-9129-7B42-C0372F06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200-03CD-41DD-B0DF-8792C811816E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FFBE8-0DE2-5A08-6C90-9C96CBD4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0EDBD-D096-7B61-26D3-59202695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5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CD54-4EC4-4272-BDCD-C5489E66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20A70-761C-0F23-90C2-3C9A3CD57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CD8CB-43DD-0A88-CDBB-550F74883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43F80-91CC-6482-9281-6057CECF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D776-474D-4509-8ABD-B76E59C4EA47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2A942-ACA9-42D0-623C-98FCE53C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6EBD4-18F9-EC10-842E-91095CDE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4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2337-7508-0085-C751-88FFE0F6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125B8-68C6-8474-09C3-5170774F4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008B0-3469-366E-5F7F-B7AF71486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99120-3DC2-F05B-6578-FE2B0E1B8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09152-8A99-6E7C-34EC-0805E54E4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2793E-B7DF-EC11-4C67-3AEE1192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17CA-E6EF-4799-A15F-9FA1B62F5FAD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0AF79-AA4F-198B-7F8E-3D401BAE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9338F-3757-4B11-CBCD-8E0948B4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3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3F00-1C38-D034-9A5F-7466CCA7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07A66-2895-48CA-1B53-DE5A7678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49B58-E195-4333-BEB2-A22152AB439D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6607C-EBE8-5FD7-6C8C-958FA347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773A5-8041-FCF3-17E2-FE6608A8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51FE8-B4FB-1C90-A4B5-98698FD1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0B6D6-6985-4098-BA4F-4F5BB359C165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5D8C9-1F1D-B674-BDC7-2B78A032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3A535-5CA2-A012-503D-99FC029F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9D19-F004-DD73-5DB4-8F6454F9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5E9D2-5BE4-4EC9-B3EE-ABEDFCB94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F3FC5-8DDA-3190-874A-D477A19F8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F612B-2DF9-8560-3AFD-7261B6B2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7C40-D887-419C-BF74-30657AE68D78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C4653-2C52-754E-F3D0-E78967B2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47A1F-6B8C-1D75-5EB4-0930B6E2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5DEC-4891-3D7D-E718-ABB90DD0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AB83B-5749-03A2-BD36-F66974D04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5DD2-8D22-679A-8630-7F0F88172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B5287-91EE-7B04-74DE-85AEBF28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C399-5085-4C53-864E-53AF786663A6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8CF72-7C26-38EC-672D-E2DA672A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9E843-980A-E5D0-AFC6-00392647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6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5882-0520-C8B5-DF12-4330D0D6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99B78-267F-7EAF-0141-3553F3388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E255-5D36-40FD-760C-D56C983E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C050-3FD3-435C-A76E-04B57AA0571A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27A22-C121-3948-2640-565E1918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CB716-228B-E923-3381-8D0B9E1C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3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41BB1-03F7-D7ED-233D-7A690840B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A500C-B7B3-6CFB-F6DE-24799D1E6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99123-4F0B-FC7E-6587-1303800E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4034-D052-47F7-B82B-8FE5E38143D8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EE864-F045-25D7-307D-9970E091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Frankfurt University of Applied Sciences 2023/24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E33D9-DACE-4F76-7CB3-46721806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1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D2263-7775-0815-EC3F-26F541CE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47967-87B4-EB5F-B58C-995F4A5E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C192C-1808-EE3F-F1C9-58770653A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3E194-E3B4-4030-879B-05C9910A0D64}" type="datetime1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AC13-6BA5-4D74-790A-B9FDA80DC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Frankfurt University of Applied Sciences 2023/24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322AF-DB5B-E510-284A-528F08CB4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84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Hierarchical-Temporal-Memory-HTM-algorithm-flowchart_fig2_369126441" TargetMode="External"/><Relationship Id="rId2" Type="http://schemas.openxmlformats.org/officeDocument/2006/relationships/hyperlink" Target="http://ai.stanford.edu/~pabbeel/depth_qual/Rabiner_Juang_hmm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med.ncbi.nlm.nih.gov/21227209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FB10D-503A-02E2-7813-FD8560EBA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ML24/25-05 Implement Performance Measurement Experiment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247D-1D40-3287-CF28-A9D589890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b="1" dirty="0"/>
              <a:t>Course:  Software Engineering</a:t>
            </a:r>
          </a:p>
          <a:p>
            <a:pPr algn="l"/>
            <a:r>
              <a:rPr lang="en-US" sz="1800" b="1" dirty="0"/>
              <a:t>Lecturer: Damir Dobric / Andreas Pech</a:t>
            </a:r>
          </a:p>
          <a:p>
            <a:pPr algn="l"/>
            <a:r>
              <a:rPr lang="en-US" sz="1800" b="1" u="sng" dirty="0"/>
              <a:t>Presented by:</a:t>
            </a:r>
          </a:p>
          <a:p>
            <a:pPr algn="l"/>
            <a:r>
              <a:rPr lang="en-US" sz="1800" b="1" dirty="0"/>
              <a:t>Tanvir Ahmed </a:t>
            </a:r>
          </a:p>
          <a:p>
            <a:pPr algn="l"/>
            <a:r>
              <a:rPr lang="en-US" sz="1800" b="1" dirty="0"/>
              <a:t>Matriculation No. # 1386435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4" descr="A logo for a university&#10;&#10;AI-generated content may be incorrect.">
            <a:extLst>
              <a:ext uri="{FF2B5EF4-FFF2-40B4-BE49-F238E27FC236}">
                <a16:creationId xmlns:a16="http://schemas.microsoft.com/office/drawing/2014/main" id="{D0E175D2-6E28-7203-A204-53BF0B830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863350"/>
            <a:ext cx="5628018" cy="2898430"/>
          </a:xfrm>
          <a:prstGeom prst="rect">
            <a:avLst/>
          </a:prstGeom>
          <a:noFill/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A47E50-74C6-E04E-4DE8-292CA99D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</p:spTree>
    <p:extLst>
      <p:ext uri="{BB962C8B-B14F-4D97-AF65-F5344CB8AC3E}">
        <p14:creationId xmlns:p14="http://schemas.microsoft.com/office/powerpoint/2010/main" val="148014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42"/>
    </mc:Choice>
    <mc:Fallback xmlns="">
      <p:transition spd="slow" advTm="2034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9A0F1-5DAE-6B9F-6E07-C54BA219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PK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0489E-00F5-1F55-7A98-16BA617A4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is to implement a performance measurement experiment in console app to run experiment with variable measurement values which also enables to run any experiment, especially MultiSequence Learning experiment.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C9F9B-DC7F-6EAB-DF89-8E8E7AF2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4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16"/>
    </mc:Choice>
    <mc:Fallback xmlns="">
      <p:transition spd="slow" advTm="4741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10E33-ED93-F5F0-58B7-457E848D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OF CONTENT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9C38F-446F-8573-4AB3-187D4695B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A52EF-703B-C1A8-B1D0-F28E33ED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5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0"/>
    </mc:Choice>
    <mc:Fallback xmlns="">
      <p:transition spd="slow" advTm="87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BA8A3-E276-7B9E-00D4-C4FAFA0E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19006-6A4A-D4E6-5F88-B48E1FBF7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Multi-sequence learning with HTM entails teaching the algorithm to detect and anticipate patterns in multiple input sequences.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multi-sequence learning using HTM, we must first encode the input information into Sparse Distributed Representations (SDRs), which can be accomplished with a scalar encoder. 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data has been encoded, the spatial pooler generates sparse illustrations of the input sequences that are supplied into the temporal memory element for learning and prediction.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Argument parsing from the command line the experiment runs to calculate the learning time for the variable measurement values.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3973C-3724-2302-EED4-C1D3B6AD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3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01"/>
    </mc:Choice>
    <mc:Fallback xmlns="">
      <p:transition spd="slow" advTm="573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19F30-BC53-AC7E-6E70-5969483D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7" y="386930"/>
            <a:ext cx="9879027" cy="1188950"/>
          </a:xfrm>
        </p:spPr>
        <p:txBody>
          <a:bodyPr anchor="b">
            <a:no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B039-81AC-4E57-B93A-32BCC07E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IERARCHICAL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EMPORAL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EMORY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(HTM)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ISTRIBUTED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EPRESENTATION (SDR)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NCODER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OOLER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EMPORAL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P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EMORY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b="1" dirty="0"/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EF617-5901-56AD-73CE-A106EA3F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8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37"/>
    </mc:Choice>
    <mc:Fallback xmlns="">
      <p:transition spd="slow" advTm="643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78424-FAEA-4A30-B7DC-4EC80352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30F94-AACA-3126-86D0-1B9B0C3A7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experiment:</a:t>
            </a:r>
          </a:p>
          <a:p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9F469-A4C0-3850-C368-3DF96BDFA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2802732"/>
            <a:ext cx="5150277" cy="30772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70982-CB03-3E15-6B99-BBFECDD2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Frankfurt University of Applied Sciences 2024/25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983"/>
    </mc:Choice>
    <mc:Fallback xmlns="">
      <p:transition spd="slow" advTm="7998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0BE0C-CEE5-4AC5-F4D5-C9E41A90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MPLEMENTATION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FB3A-7E53-622B-98F1-8FFA71AF0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Configuration and Argument Parsing:</a:t>
            </a:r>
          </a:p>
          <a:p>
            <a:pPr marL="0" indent="0">
              <a:buNone/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--sequence-folder &lt;path&gt; --out &lt;output.csv&gt; --cores 1 --affinity 1 --experiment MultiSequenceLearning</a:t>
            </a:r>
          </a:p>
          <a:p>
            <a:pPr marL="0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97C13-8007-1A6F-4D23-230B3580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53CE4-142B-4AF8-8D54-EF4B115E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285" y="4986524"/>
            <a:ext cx="4697566" cy="233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049F3-49E7-3C81-28DD-188304310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333" y="2920838"/>
            <a:ext cx="8966005" cy="192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2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719"/>
    </mc:Choice>
    <mc:Fallback xmlns="">
      <p:transition spd="slow" advTm="9771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7412B8E-484B-4452-8644-AD263F593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83874-FAD0-BE90-BE40-25E6322D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MPLEMENTATION</a:t>
            </a:r>
            <a:b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2DCB-FD33-88BB-D7C0-A944B916D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represents the model for processing and storing the dataset.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E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D95D09-2666-454C-AE57-F5C7D866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FA1F9-904E-831A-0972-48E72CE2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Frankfurt University of Applied Sciences 2024/25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F58304-19A2-6F2C-B312-DE78AE5EB05D}"/>
              </a:ext>
            </a:extLst>
          </p:cNvPr>
          <p:cNvSpPr txBox="1">
            <a:spLocks/>
          </p:cNvSpPr>
          <p:nvPr/>
        </p:nvSpPr>
        <p:spPr>
          <a:xfrm>
            <a:off x="-106150" y="269348"/>
            <a:ext cx="4433323" cy="28664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50F4C0-7602-E95D-DFC2-EC935278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419" y="4448878"/>
            <a:ext cx="4458307" cy="14144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14142-85B0-C95C-8C46-950877A97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83" y="1767546"/>
            <a:ext cx="1992745" cy="2595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9E279-C39D-1774-AEAE-E477A7E48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783" y="1062849"/>
            <a:ext cx="2485711" cy="44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5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33"/>
    </mc:Choice>
    <mc:Fallback xmlns="">
      <p:transition spd="slow" advTm="2383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F4899-EF36-9D10-D943-364143DF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53B0A-1CE8-3059-883B-0BEEAB1B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en-P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P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MPLEMENTATION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F5AD-FB40-2AC3-B64E-B15C791F9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Loading:</a:t>
            </a:r>
            <a:endParaRPr lang="en-PK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LoadDataset()</a:t>
            </a:r>
            <a:endParaRPr 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PK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A76A1-F0A7-7738-B496-4A5551BC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2FA7B-A457-0CAE-0ED6-D9286845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79" y="2508105"/>
            <a:ext cx="4891566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2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07"/>
    </mc:Choice>
    <mc:Fallback xmlns="">
      <p:transition spd="slow" advTm="1800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05EEC-907A-FBE3-E3B1-5BA2E96B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F1DCD-B38C-3639-1A2D-58839DFE1131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IExperiment for loading experiment 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LoadExperiment()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37793A-C4F5-30A9-3BDE-0C5A895E1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24559" y="3429000"/>
            <a:ext cx="6053987" cy="206723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68C8-D8AC-81EA-8DAD-7957CC41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</p:spTree>
    <p:extLst>
      <p:ext uri="{BB962C8B-B14F-4D97-AF65-F5344CB8AC3E}">
        <p14:creationId xmlns:p14="http://schemas.microsoft.com/office/powerpoint/2010/main" val="202057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"/>
    </mc:Choice>
    <mc:Fallback xmlns="">
      <p:transition spd="slow" advTm="73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C4B03-8256-2AD4-1D9C-1ADA2F9F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E58C51-D8C1-563F-7219-6B167ECD0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254D0-7685-06E1-F909-69B7F128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CFE76C-1DCA-2869-8774-30F594D02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593649-98EC-55F0-13E9-B648F7F5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3B5CC-9286-84CC-347D-53F11FA1AA89}"/>
              </a:ext>
            </a:extLst>
          </p:cNvPr>
          <p:cNvSpPr txBox="1"/>
          <p:nvPr/>
        </p:nvSpPr>
        <p:spPr>
          <a:xfrm>
            <a:off x="620941" y="2327144"/>
            <a:ext cx="4530898" cy="206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+mj-lt"/>
                <a:ea typeface="+mj-ea"/>
                <a:cs typeface="+mj-cs"/>
              </a:rPr>
              <a:t>Performance Logging</a:t>
            </a:r>
            <a:r>
              <a:rPr lang="en-US" sz="1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endParaRPr lang="en-US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PerformanceLogger.LogPerformance ()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32C7E9-B732-2E4F-24FD-6EB593DFA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6B4EF-3BF9-57CB-35C4-E9C4BD96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8D52A1-F51C-15EC-CD13-B56BE5CA1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01732" y="3989377"/>
            <a:ext cx="4364103" cy="224921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7464E0-0B17-C7A7-0A48-02B9C6465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54" y="4515140"/>
            <a:ext cx="5900778" cy="169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"/>
    </mc:Choice>
    <mc:Fallback xmlns="">
      <p:transition spd="slow" advTm="2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B3103-41D2-09F9-3157-4A179C59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8F8EDB-0664-5F5C-D063-0E24381E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vs .NET Version</a:t>
            </a:r>
          </a:p>
        </p:txBody>
      </p:sp>
      <p:pic>
        <p:nvPicPr>
          <p:cNvPr id="11" name="Picture 10" descr="A graph of a graph showing a number of different sizes&#10;&#10;AI-generated content may be incorrect.">
            <a:extLst>
              <a:ext uri="{FF2B5EF4-FFF2-40B4-BE49-F238E27FC236}">
                <a16:creationId xmlns:a16="http://schemas.microsoft.com/office/drawing/2014/main" id="{F507C856-6ADB-6161-86B3-E12FB2502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731915"/>
            <a:ext cx="5150277" cy="321892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9F0DC-C247-368B-9748-27765CFEB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70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"/>
    </mc:Choice>
    <mc:Fallback xmlns="">
      <p:transition spd="slow" advTm="55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B0D61-C54A-7576-091F-613E4605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9D2DF-1129-4D9C-551B-F137C20E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BA9E4-DB81-5915-9F53-11D143FA2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vs CPU Speed</a:t>
            </a:r>
          </a:p>
        </p:txBody>
      </p:sp>
      <p:pic>
        <p:nvPicPr>
          <p:cNvPr id="9" name="Picture 8" descr="A graph with green and white lines&#10;&#10;AI-generated content may be incorrect.">
            <a:extLst>
              <a:ext uri="{FF2B5EF4-FFF2-40B4-BE49-F238E27FC236}">
                <a16:creationId xmlns:a16="http://schemas.microsoft.com/office/drawing/2014/main" id="{7BDC17F3-A558-EE4D-FDF2-416C16800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731915"/>
            <a:ext cx="5150277" cy="32189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F3427-4118-8C33-6CF2-9598F911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8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"/>
    </mc:Choice>
    <mc:Fallback xmlns="">
      <p:transition spd="slow" advTm="2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E7465-FD40-0DD1-BFF3-326B1649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A5C57-7F2D-D660-45DE-0B89B8D8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F38093-0371-1973-F00E-21A2DA853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time vs CPU Cores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363E651E-FAE5-F484-5453-14792FD8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731915"/>
            <a:ext cx="5150277" cy="32189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1E396-2D36-59F0-A67E-C69DAF24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"/>
    </mc:Choice>
    <mc:Fallback xmlns="">
      <p:transition spd="slow" advTm="8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FFA80-11FC-53C1-E09E-5483B895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752D-E80B-76EF-2911-21C7AC53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effectively implements a modular and extensible experimental framework for evaluating the effectiveness of learning based on Hierarchical Temporal Memory (HTM), particularly the MultiSequence Learning model.  During execution, a console-based runner with configurable parameters allowed for dynamic control over CPU affinity, core selection, and.NET runtime versions.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performance indicators were recorded in CSV outputs, including runtime versions, CPU speed, RAM utilization, and learning time.  The experiment's findings supported the benefit of parallelization by demonstrating a correlation between CPU core count and learning efficiency.  Additionally, a comparison of the various dotnet versions revealed notable runtime improvements, with.NET 9.0.3 performing better than.NET 8.0.14 in the majority of settings.  Because of its reflection-based experiment interface, this program is adaptable enough to be used for more extensive HTM testing and study.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F6059-C81B-AC97-B803-C5DCECE9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0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"/>
    </mc:Choice>
    <mc:Fallback xmlns="">
      <p:transition spd="slow" advTm="20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6B630-772A-085A-0A9D-AC376786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8B67-C72C-AC6C-E88B-3A6CF55F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Jeff Hawkins, "On Intelligence: How a New Understanding of the Brain will Lead to the Creation of Truly Intelligent Machines", 2004</a:t>
            </a:r>
            <a:endParaRPr lang="en-P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H. J. L. R. .Rabiner, “An introduction to hidden </a:t>
            </a:r>
            <a:r>
              <a:rPr lang="en-P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Markov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models,”," 1986. [Online]. Available: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http://ai.stanford.edu/~pabbeel/depth_qual/Rabiner_Juang_hmms.pdf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Yudhi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Adhitya,” IoT and Deep Learning-Based Farmer Safety System” 2023.[Online].</a:t>
            </a:r>
            <a:r>
              <a:rPr lang="en-P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https://www.researchgate.net/figure/Hierarchical-Temporal-Memory-HTM-algorithm-flowchart_fig2_369126441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Keele, "Sequence learning,” - B. A. C. G. J. D. S. W.," 1998. [Online]. Available: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https://pubmed.ncbi.nlm.nih.gov/21227209/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339F1-93F9-D19C-F64F-8B8D8463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Frankfurt University of Applied Sciences 2024/25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4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"/>
    </mc:Choice>
    <mc:Fallback xmlns="">
      <p:transition spd="slow" advTm="19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FEC94-96DF-7C29-D206-07113F64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42261-F35A-2F4C-FC5D-271E88A6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Frankfurt University of Applied Sciences 2024/25</a:t>
            </a:r>
          </a:p>
        </p:txBody>
      </p:sp>
    </p:spTree>
    <p:extLst>
      <p:ext uri="{BB962C8B-B14F-4D97-AF65-F5344CB8AC3E}">
        <p14:creationId xmlns:p14="http://schemas.microsoft.com/office/powerpoint/2010/main" val="418892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9"/>
    </mc:Choice>
    <mc:Fallback xmlns="">
      <p:transition spd="slow" advTm="7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729</Words>
  <Application>Microsoft Office PowerPoint</Application>
  <PresentationFormat>Widescreen</PresentationFormat>
  <Paragraphs>102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ML24/25-05 Implement Performance Measurement Experiment </vt:lpstr>
      <vt:lpstr>  OBJECTIVE</vt:lpstr>
      <vt:lpstr>TABLE OF CONTENT</vt:lpstr>
      <vt:lpstr>INTRODUCTION</vt:lpstr>
      <vt:lpstr>BACKGROUND</vt:lpstr>
      <vt:lpstr>METHODOLOGY </vt:lpstr>
      <vt:lpstr>IMPLEMENTATION</vt:lpstr>
      <vt:lpstr>IMPLEMENTATION </vt:lpstr>
      <vt:lpstr>    IMPLEMENTATION:</vt:lpstr>
      <vt:lpstr>IMPLEMENTATION</vt:lpstr>
      <vt:lpstr>IMPLEMENTATION</vt:lpstr>
      <vt:lpstr>RESULTS</vt:lpstr>
      <vt:lpstr>RESULTS</vt:lpstr>
      <vt:lpstr>RESULTS</vt:lpstr>
      <vt:lpstr>CONCLUSION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ML22/23-15 Approve Prediction of Multisequence Learning</dc:title>
  <dc:creator>Faizan;Jasim</dc:creator>
  <cp:lastModifiedBy>Ahmed, Tanvir</cp:lastModifiedBy>
  <cp:revision>117</cp:revision>
  <dcterms:created xsi:type="dcterms:W3CDTF">2023-03-27T19:52:01Z</dcterms:created>
  <dcterms:modified xsi:type="dcterms:W3CDTF">2025-03-27T19:01:53Z</dcterms:modified>
</cp:coreProperties>
</file>